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BOPD</c:v>
                </c:pt>
              </c:strCache>
            </c:strRef>
          </c:tx>
          <c:spPr>
            <a:solidFill>
              <a:srgbClr val="B56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TX</c:v>
                  </c:pt>
                  <c:pt idx="1">
                    <c:v>NM</c:v>
                  </c:pt>
                  <c:pt idx="2">
                    <c:v>OK</c:v>
                  </c:pt>
                  <c:pt idx="3">
                    <c:v>LA</c:v>
                  </c:pt>
                  <c:pt idx="4">
                    <c:v>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842</c:v>
                </c:pt>
                <c:pt idx="1">
                  <c:v>799</c:v>
                </c:pt>
                <c:pt idx="2">
                  <c:v>612</c:v>
                </c:pt>
                <c:pt idx="3">
                  <c:v>528</c:v>
                </c:pt>
                <c:pt idx="4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 MCFD</c:v>
                </c:pt>
              </c:strCache>
            </c:strRef>
          </c:tx>
          <c:spPr>
            <a:solidFill>
              <a:srgbClr val="6F8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TX</c:v>
                  </c:pt>
                  <c:pt idx="1">
                    <c:v>NM</c:v>
                  </c:pt>
                  <c:pt idx="2">
                    <c:v>OK</c:v>
                  </c:pt>
                  <c:pt idx="3">
                    <c:v>LA</c:v>
                  </c:pt>
                  <c:pt idx="4">
                    <c:v>AR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1650</c:v>
                </c:pt>
                <c:pt idx="1">
                  <c:v>1510</c:v>
                </c:pt>
                <c:pt idx="2">
                  <c:v>2230</c:v>
                </c:pt>
                <c:pt idx="3">
                  <c:v>2740</c:v>
                </c:pt>
                <c:pt idx="4">
                  <c:v>1980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B56A3C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Rundown Template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chaining from well-test files to manifest, brief, deck, and meeting agenda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Public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3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7498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operating thesis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72600" y="146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Public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Production read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929384"/>
            <a:ext cx="300837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combined oil, gas, water, EUR, and pressure trends by state.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D9E7E5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563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Mineral signal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929384"/>
            <a:ext cx="300837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out lithium, bromide, chloride, silica, H2S, CO2, TDS, and API gravity indicators.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1417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3E7D3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56362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Action posture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8472" y="1929384"/>
            <a:ext cx="3008376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analytics into operating decisions for the weekly manifest review.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40280" y="3246120"/>
            <a:ext cx="7863840" cy="0"/>
          </a:xfrm>
          <a:prstGeom prst="line">
            <a:avLst/>
          </a:prstGeom>
          <a:noFill/>
          <a:ln w="50800">
            <a:solidFill>
              <a:srgbClr val="B56A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3749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38953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4261104"/>
            <a:ext cx="21396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well workbooks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749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38953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22192" y="4261104"/>
            <a:ext cx="21396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Rollups and visuals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749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38953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9672" y="4261104"/>
            <a:ext cx="21396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 and Well Brief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374904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3895344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Mobilize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17152" y="4261104"/>
            <a:ext cx="213969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Deck, email, agenda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3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7498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and area rollup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72600" y="146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Public</a:t>
            </a:r>
            <a:endParaRPr lang="en-US" sz="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32588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41732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85432" y="156362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guidance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85432" y="1929384"/>
            <a:ext cx="41970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the sample chart with the manifest output generated by the Excel agent.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20840" y="274320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85432" y="288950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frame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85432" y="3255264"/>
            <a:ext cx="41970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which state changed the operating posture and which area requires follow-up.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20840" y="4069080"/>
            <a:ext cx="4526280" cy="1051560"/>
          </a:xfrm>
          <a:prstGeom prst="roundRect">
            <a:avLst>
              <a:gd name="adj" fmla="val 6957"/>
            </a:avLst>
          </a:prstGeom>
          <a:solidFill>
            <a:srgbClr val="F3E7D3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85432" y="4215384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note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85432" y="4581144"/>
            <a:ext cx="41970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bring weather or land-rights details forward unless summarized as risk rationale.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3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7498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visual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72600" y="146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Public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640080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E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429768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361188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384048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83464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320040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74904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01168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377440"/>
            <a:ext cx="164592" cy="164592"/>
          </a:xfrm>
          <a:prstGeom prst="ellipse">
            <a:avLst/>
          </a:prstGeom>
          <a:solidFill>
            <a:srgbClr val="B56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6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Longitude / latitude plot area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132588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8392" y="1472184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 class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08392" y="1837944"/>
            <a:ext cx="337413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the PowerPoint agent to recreate this slide with the actual manifest map visual.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43800" y="288036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D9E7E5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08392" y="3026664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story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08392" y="3392424"/>
            <a:ext cx="337413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 clusters by Texas-centered geography and note outliers across New Mexico, Oklahoma, Louisiana, and Arkansas.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443484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F3E7D3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08392" y="4581144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08392" y="4946904"/>
            <a:ext cx="337413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areas need operating review before next week's manifest?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D3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7498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Risk, decisions, and meeting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372600" y="1463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Public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watch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883664"/>
            <a:ext cx="309981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H2S, pressure, water cut, and low-confidence records requiring review.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decision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1883664"/>
            <a:ext cx="309981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workover, surveillance, mineral assay follow-up, or deferral.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92440" y="13716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51790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outcome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57032" y="1883664"/>
            <a:ext cx="3099816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owners and next-week manifest changes.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30-minute agenda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D9E7E5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7581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0-5 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" y="4123944"/>
            <a:ext cx="177393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and weekly objective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36118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37581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5-15 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9272" y="4123944"/>
            <a:ext cx="177393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and area results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32120" y="36118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3E7D3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96712" y="37581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15-23 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96712" y="4123944"/>
            <a:ext cx="177393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and mineral signals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09560" y="361188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74152" y="37581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23-30 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74152" y="4123944"/>
            <a:ext cx="1773936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decisions and actions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Rundown Template</dc:title>
  <dc:subject>Agent chaining oil and gas well manifest demo</dc:subject>
  <dc:creator>Microsoft Scout</dc:creator>
  <cp:lastModifiedBy>Microsoft Scout</cp:lastModifiedBy>
  <cp:revision>1</cp:revision>
  <dcterms:created xsi:type="dcterms:W3CDTF">2026-09-04T19:57:38Z</dcterms:created>
  <dcterms:modified xsi:type="dcterms:W3CDTF">2026-09-04T19:57:38Z</dcterms:modified>
</cp:coreProperties>
</file>